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1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93FA6E-AD4F-64C5-1820-A525649DFC18}" v="333" dt="2026-02-03T08:35:47.724"/>
    <p1510:client id="{AFF7A296-F624-5E68-C1E4-511B80578C80}" v="151" dt="2026-02-03T12:00:48.540"/>
    <p1510:client id="{FB8D64CA-D642-F37D-8AF3-2ED2F78E1421}" v="421" dt="2026-02-02T11:21:12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2026. 02. 04.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bbon: Curved and Tilted Up 4">
            <a:extLst>
              <a:ext uri="{FF2B5EF4-FFF2-40B4-BE49-F238E27FC236}">
                <a16:creationId xmlns:a16="http://schemas.microsoft.com/office/drawing/2014/main" id="{87503F4A-99AE-E377-C641-DB594FC982A8}"/>
              </a:ext>
            </a:extLst>
          </p:cNvPr>
          <p:cNvSpPr/>
          <p:nvPr/>
        </p:nvSpPr>
        <p:spPr>
          <a:xfrm>
            <a:off x="2139042" y="4161063"/>
            <a:ext cx="7919357" cy="2163535"/>
          </a:xfrm>
          <a:prstGeom prst="ellipseRibbon2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E180D8CC-D556-2092-ACF7-E3796DA0310F}"/>
              </a:ext>
            </a:extLst>
          </p:cNvPr>
          <p:cNvSpPr/>
          <p:nvPr/>
        </p:nvSpPr>
        <p:spPr>
          <a:xfrm>
            <a:off x="3192236" y="1521278"/>
            <a:ext cx="5810250" cy="1905000"/>
          </a:xfrm>
          <a:prstGeom prst="horizontalScroll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632506"/>
            <a:ext cx="9144000" cy="2387600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Blackadder ITC"/>
              </a:rPr>
              <a:t>Szakmai Vizsga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4266066"/>
            <a:ext cx="9144000" cy="165576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hu-HU">
                <a:solidFill>
                  <a:schemeClr val="bg1"/>
                </a:solidFill>
                <a:latin typeface="Blackadder ITC"/>
              </a:rPr>
              <a:t>Készítette: </a:t>
            </a:r>
            <a:endParaRPr lang="en-US">
              <a:solidFill>
                <a:schemeClr val="bg1"/>
              </a:solidFill>
              <a:latin typeface="Blackadder ITC"/>
            </a:endParaRPr>
          </a:p>
          <a:p>
            <a:r>
              <a:rPr lang="hu-HU" dirty="0">
                <a:solidFill>
                  <a:schemeClr val="bg1"/>
                </a:solidFill>
                <a:latin typeface="Blackadder ITC"/>
              </a:rPr>
              <a:t>Márki Péter </a:t>
            </a:r>
          </a:p>
          <a:p>
            <a:r>
              <a:rPr lang="hu-HU" dirty="0">
                <a:solidFill>
                  <a:schemeClr val="bg1"/>
                </a:solidFill>
                <a:latin typeface="Blackadder ITC"/>
              </a:rPr>
              <a:t>Kovács Alexandra</a:t>
            </a:r>
          </a:p>
          <a:p>
            <a:r>
              <a:rPr lang="hu-HU" dirty="0">
                <a:solidFill>
                  <a:schemeClr val="bg1"/>
                </a:solidFill>
                <a:latin typeface="Blackadder ITC"/>
              </a:rPr>
              <a:t>Kovács Kamilla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E6548-7E96-B97B-CB2A-5AD5197B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757096-DAC4-CF78-5A1A-83D79EDFD0D7}"/>
              </a:ext>
            </a:extLst>
          </p:cNvPr>
          <p:cNvSpPr/>
          <p:nvPr/>
        </p:nvSpPr>
        <p:spPr>
          <a:xfrm>
            <a:off x="144319" y="920040"/>
            <a:ext cx="5442856" cy="595009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83F04C-B9D8-6F00-C278-8A0FE6B3474D}"/>
              </a:ext>
            </a:extLst>
          </p:cNvPr>
          <p:cNvSpPr txBox="1"/>
          <p:nvPr/>
        </p:nvSpPr>
        <p:spPr>
          <a:xfrm>
            <a:off x="4848101" y="149432"/>
            <a:ext cx="33448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600" b="1" u="sng" dirty="0">
                <a:solidFill>
                  <a:schemeClr val="bg1"/>
                </a:solidFill>
                <a:latin typeface="Blackadder ITC"/>
              </a:rPr>
              <a:t>Rövid leírás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C35B68-48DF-87A9-FF93-C6F7DB726E4D}"/>
              </a:ext>
            </a:extLst>
          </p:cNvPr>
          <p:cNvSpPr txBox="1"/>
          <p:nvPr/>
        </p:nvSpPr>
        <p:spPr>
          <a:xfrm>
            <a:off x="325416" y="1058189"/>
            <a:ext cx="5076701" cy="58477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A </a:t>
            </a:r>
            <a:r>
              <a:rPr lang="hu-HU" i="1" err="1">
                <a:solidFill>
                  <a:schemeClr val="bg1"/>
                </a:solidFill>
                <a:ea typeface="+mn-lt"/>
                <a:cs typeface="+mn-lt"/>
              </a:rPr>
              <a:t>Dungeons</a:t>
            </a: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 of </a:t>
            </a:r>
            <a:r>
              <a:rPr lang="hu-HU" i="1" err="1">
                <a:solidFill>
                  <a:schemeClr val="bg1"/>
                </a:solidFill>
                <a:ea typeface="+mn-lt"/>
                <a:cs typeface="+mn-lt"/>
              </a:rPr>
              <a:t>Mare</a:t>
            </a: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 egy 2D-s, sötét </a:t>
            </a:r>
            <a:r>
              <a:rPr lang="hu-HU" i="1" err="1">
                <a:solidFill>
                  <a:schemeClr val="bg1"/>
                </a:solidFill>
                <a:ea typeface="+mn-lt"/>
                <a:cs typeface="+mn-lt"/>
              </a:rPr>
              <a:t>fantasy</a:t>
            </a: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 horror-</a:t>
            </a:r>
            <a:r>
              <a:rPr lang="hu-HU" i="1" err="1">
                <a:solidFill>
                  <a:schemeClr val="bg1"/>
                </a:solidFill>
                <a:ea typeface="+mn-lt"/>
                <a:cs typeface="+mn-lt"/>
              </a:rPr>
              <a:t>roguelike</a:t>
            </a: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 játék, ahol a játékos egy </a:t>
            </a:r>
            <a:r>
              <a:rPr lang="hu-HU" i="1" err="1">
                <a:solidFill>
                  <a:schemeClr val="bg1"/>
                </a:solidFill>
                <a:ea typeface="+mn-lt"/>
                <a:cs typeface="+mn-lt"/>
              </a:rPr>
              <a:t>középko</a:t>
            </a: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hu-HU" i="1" err="1">
                <a:solidFill>
                  <a:schemeClr val="bg1"/>
                </a:solidFill>
                <a:ea typeface="+mn-lt"/>
                <a:cs typeface="+mn-lt"/>
              </a:rPr>
              <a:t>ri</a:t>
            </a: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 lovag szerepébe bújik, aki egy ismeretlen katakombában ébred felszerelés nélkül.</a:t>
            </a:r>
            <a:br>
              <a:rPr lang="hu-HU" i="1" dirty="0">
                <a:ea typeface="+mn-lt"/>
                <a:cs typeface="+mn-lt"/>
              </a:rPr>
            </a:b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A cél: túlélni, felfedezni a labirintust, kijutni, miközben különféle szörnyek vadásznak rá.</a:t>
            </a:r>
            <a:br>
              <a:rPr lang="hu-HU" i="1" dirty="0">
                <a:ea typeface="+mn-lt"/>
                <a:cs typeface="+mn-lt"/>
              </a:rPr>
            </a:b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Minden futam egyedi más pályák, szörnyek és kihívások várnak.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hu-HU" b="1" u="sng" dirty="0">
                <a:solidFill>
                  <a:schemeClr val="bg1"/>
                </a:solidFill>
                <a:ea typeface="+mn-lt"/>
                <a:cs typeface="+mn-lt"/>
              </a:rPr>
              <a:t>Célközönség: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16+  , akik szeretik a sötét atmoszférájú, kihívásalapú játékokat.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Azok, akik szeretik a </a:t>
            </a:r>
            <a:r>
              <a:rPr lang="hu-HU" b="1" i="1" dirty="0">
                <a:solidFill>
                  <a:schemeClr val="bg1"/>
                </a:solidFill>
                <a:ea typeface="+mn-lt"/>
                <a:cs typeface="+mn-lt"/>
              </a:rPr>
              <a:t>felfedezést, túlélést és </a:t>
            </a:r>
            <a:r>
              <a:rPr lang="hu-HU" b="1" i="1" dirty="0" err="1">
                <a:solidFill>
                  <a:schemeClr val="bg1"/>
                </a:solidFill>
                <a:ea typeface="+mn-lt"/>
                <a:cs typeface="+mn-lt"/>
              </a:rPr>
              <a:t>újrapróbálkozást</a:t>
            </a: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 (</a:t>
            </a:r>
            <a:r>
              <a:rPr lang="hu-HU" i="1" dirty="0" err="1">
                <a:solidFill>
                  <a:schemeClr val="bg1"/>
                </a:solidFill>
                <a:ea typeface="+mn-lt"/>
                <a:cs typeface="+mn-lt"/>
              </a:rPr>
              <a:t>roguelike</a:t>
            </a: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 élményt) :).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endParaRPr lang="hu-HU" i="1" dirty="0">
              <a:solidFill>
                <a:schemeClr val="bg1"/>
              </a:solidFill>
            </a:endParaRPr>
          </a:p>
          <a:p>
            <a:pPr algn="ctr"/>
            <a:r>
              <a:rPr lang="hu-HU" b="1" u="sng" dirty="0">
                <a:solidFill>
                  <a:schemeClr val="bg1"/>
                </a:solidFill>
              </a:rPr>
              <a:t>Hasonló Játékok:</a:t>
            </a:r>
            <a:endParaRPr lang="hu-HU" dirty="0">
              <a:solidFill>
                <a:schemeClr val="bg1"/>
              </a:solidFill>
            </a:endParaRPr>
          </a:p>
          <a:p>
            <a:pPr algn="ctr"/>
            <a:r>
              <a:rPr lang="hu-HU" err="1">
                <a:solidFill>
                  <a:schemeClr val="bg1"/>
                </a:solidFill>
              </a:rPr>
              <a:t>Darkest</a:t>
            </a:r>
            <a:r>
              <a:rPr lang="hu-HU" dirty="0">
                <a:solidFill>
                  <a:schemeClr val="bg1"/>
                </a:solidFill>
              </a:rPr>
              <a:t> </a:t>
            </a:r>
            <a:r>
              <a:rPr lang="hu-HU" err="1">
                <a:solidFill>
                  <a:schemeClr val="bg1"/>
                </a:solidFill>
              </a:rPr>
              <a:t>Dungeon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hu-HU" err="1">
                <a:solidFill>
                  <a:schemeClr val="bg1"/>
                </a:solidFill>
              </a:rPr>
              <a:t>Binding</a:t>
            </a:r>
            <a:r>
              <a:rPr lang="hu-HU" dirty="0">
                <a:solidFill>
                  <a:schemeClr val="bg1"/>
                </a:solidFill>
              </a:rPr>
              <a:t> of </a:t>
            </a:r>
            <a:r>
              <a:rPr lang="hu-HU" err="1">
                <a:solidFill>
                  <a:schemeClr val="bg1"/>
                </a:solidFill>
              </a:rPr>
              <a:t>isaac</a:t>
            </a:r>
            <a:endParaRPr lang="en-US">
              <a:solidFill>
                <a:schemeClr val="bg1"/>
              </a:solidFill>
            </a:endParaRPr>
          </a:p>
          <a:p>
            <a:pPr algn="ctr"/>
            <a:r>
              <a:rPr lang="hu-HU" err="1">
                <a:solidFill>
                  <a:schemeClr val="bg1"/>
                </a:solidFill>
              </a:rPr>
              <a:t>Dark</a:t>
            </a:r>
            <a:r>
              <a:rPr lang="hu-HU" dirty="0">
                <a:solidFill>
                  <a:schemeClr val="bg1"/>
                </a:solidFill>
              </a:rPr>
              <a:t> </a:t>
            </a:r>
            <a:r>
              <a:rPr lang="hu-HU" err="1">
                <a:solidFill>
                  <a:schemeClr val="bg1"/>
                </a:solidFill>
              </a:rPr>
              <a:t>Deception</a:t>
            </a:r>
            <a:endParaRPr lang="en-US" err="1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9" name="Picture 8" descr="The Binding of Isaac ajoute des descriptions et plusieurs nouveautés dans  une MÀJ costaude - Le Bêta-Testeur">
            <a:extLst>
              <a:ext uri="{FF2B5EF4-FFF2-40B4-BE49-F238E27FC236}">
                <a16:creationId xmlns:a16="http://schemas.microsoft.com/office/drawing/2014/main" id="{1E8272AE-7824-418E-ABDA-628893270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475" y="1055758"/>
            <a:ext cx="4277096" cy="2394114"/>
          </a:xfrm>
          <a:prstGeom prst="rect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F71B4D-FAEC-CED5-3704-D0C0C336ABE6}"/>
              </a:ext>
            </a:extLst>
          </p:cNvPr>
          <p:cNvSpPr txBox="1"/>
          <p:nvPr/>
        </p:nvSpPr>
        <p:spPr>
          <a:xfrm>
            <a:off x="10437586" y="3586117"/>
            <a:ext cx="52931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Binding of Isaac</a:t>
            </a:r>
          </a:p>
        </p:txBody>
      </p:sp>
      <p:pic>
        <p:nvPicPr>
          <p:cNvPr id="4" name="Picture 3" descr="A Mechanical Critique of Darkest Dungeon - The Gemsbok">
            <a:extLst>
              <a:ext uri="{FF2B5EF4-FFF2-40B4-BE49-F238E27FC236}">
                <a16:creationId xmlns:a16="http://schemas.microsoft.com/office/drawing/2014/main" id="{9DE9AEBC-4A52-E2DC-5079-5EF800907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555" y="3761105"/>
            <a:ext cx="4174490" cy="2393950"/>
          </a:xfrm>
          <a:prstGeom prst="rect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58DBED-9DA5-320E-8B6F-51787507E0CE}"/>
              </a:ext>
            </a:extLst>
          </p:cNvPr>
          <p:cNvSpPr txBox="1"/>
          <p:nvPr/>
        </p:nvSpPr>
        <p:spPr>
          <a:xfrm>
            <a:off x="6097814" y="6269808"/>
            <a:ext cx="2667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ea typeface="+mn-lt"/>
                <a:cs typeface="+mn-lt"/>
              </a:rPr>
              <a:t>darkest dungeon</a:t>
            </a:r>
            <a:endParaRPr lang="en-US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76387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F8470-A11F-1568-0D2A-D53924BC2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63A164-9CC4-5C2E-1882-3DA7FFC8F3CB}"/>
              </a:ext>
            </a:extLst>
          </p:cNvPr>
          <p:cNvSpPr/>
          <p:nvPr/>
        </p:nvSpPr>
        <p:spPr>
          <a:xfrm>
            <a:off x="6304312" y="918851"/>
            <a:ext cx="5479141" cy="552697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4F10073-4635-96BE-F567-CE1E5DD5CBEB}"/>
              </a:ext>
            </a:extLst>
          </p:cNvPr>
          <p:cNvSpPr/>
          <p:nvPr/>
        </p:nvSpPr>
        <p:spPr>
          <a:xfrm>
            <a:off x="611084" y="1005937"/>
            <a:ext cx="5479141" cy="552697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E5E7D3-437D-8124-1A15-9E4E373F0498}"/>
              </a:ext>
            </a:extLst>
          </p:cNvPr>
          <p:cNvSpPr txBox="1"/>
          <p:nvPr/>
        </p:nvSpPr>
        <p:spPr>
          <a:xfrm>
            <a:off x="3993573" y="-2968"/>
            <a:ext cx="48598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600" b="1" u="sng" dirty="0">
                <a:solidFill>
                  <a:schemeClr val="bg1"/>
                </a:solidFill>
                <a:latin typeface="Blackadder ITC"/>
              </a:rPr>
              <a:t>Játék menet és koncepció: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BF8680-FA90-E48B-D7E2-F3278302C68D}"/>
              </a:ext>
            </a:extLst>
          </p:cNvPr>
          <p:cNvSpPr txBox="1"/>
          <p:nvPr/>
        </p:nvSpPr>
        <p:spPr>
          <a:xfrm>
            <a:off x="778493" y="1283161"/>
            <a:ext cx="5155869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b="1" i="1" u="sng" dirty="0">
                <a:solidFill>
                  <a:schemeClr val="bg1"/>
                </a:solidFill>
                <a:ea typeface="+mn-lt"/>
                <a:cs typeface="+mn-lt"/>
              </a:rPr>
              <a:t>Kezdőszoba:</a:t>
            </a:r>
            <a:r>
              <a:rPr lang="hu-HU" b="1" i="1" dirty="0">
                <a:solidFill>
                  <a:schemeClr val="bg1"/>
                </a:solidFill>
                <a:ea typeface="+mn-lt"/>
                <a:cs typeface="+mn-lt"/>
              </a:rPr>
              <a:t> </a:t>
            </a: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a lovag egy kőfalú teremben ébred, előtte három kapu.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hu-HU" i="1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hu-HU" b="1" i="1" u="sng" dirty="0">
                <a:solidFill>
                  <a:schemeClr val="bg1"/>
                </a:solidFill>
                <a:ea typeface="+mn-lt"/>
                <a:cs typeface="+mn-lt"/>
              </a:rPr>
              <a:t>Kapu választása:</a:t>
            </a:r>
            <a:r>
              <a:rPr lang="hu-HU" b="1" i="1" dirty="0">
                <a:solidFill>
                  <a:schemeClr val="bg1"/>
                </a:solidFill>
                <a:ea typeface="+mn-lt"/>
                <a:cs typeface="+mn-lt"/>
              </a:rPr>
              <a:t> </a:t>
            </a: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csak egy választható – mindegyik egyedi szörnyet és kihívást rejt.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hu-HU" i="1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hu-HU" b="1" i="1" u="sng" dirty="0">
                <a:solidFill>
                  <a:schemeClr val="bg1"/>
                </a:solidFill>
                <a:ea typeface="+mn-lt"/>
                <a:cs typeface="+mn-lt"/>
              </a:rPr>
              <a:t>Szörnyek:</a:t>
            </a: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 Minden szörny máshogy néz ki, egyediek más tulajdonságokkal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hu-HU" i="1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hu-HU" b="1" i="1" u="sng" dirty="0">
                <a:solidFill>
                  <a:schemeClr val="bg1"/>
                </a:solidFill>
                <a:ea typeface="+mn-lt"/>
                <a:cs typeface="+mn-lt"/>
              </a:rPr>
              <a:t>Labirintus:</a:t>
            </a:r>
            <a:r>
              <a:rPr lang="hu-HU" b="1" i="1" dirty="0">
                <a:solidFill>
                  <a:schemeClr val="bg1"/>
                </a:solidFill>
                <a:ea typeface="+mn-lt"/>
                <a:cs typeface="+mn-lt"/>
              </a:rPr>
              <a:t> </a:t>
            </a: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véletlenszerűen generált sötét szobák folyosókkal, rejtekutakkal.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hu-HU" i="1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hu-HU" b="1" i="1" u="sng" dirty="0">
                <a:solidFill>
                  <a:schemeClr val="bg1"/>
                </a:solidFill>
                <a:ea typeface="+mn-lt"/>
                <a:cs typeface="+mn-lt"/>
              </a:rPr>
              <a:t>Túlélés:</a:t>
            </a: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 figyelni a zajokra, rejtekhelyeket használni, kísérletezni a túlélésért.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hu-HU" i="1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hu-HU" b="1" i="1" u="sng" dirty="0">
                <a:solidFill>
                  <a:schemeClr val="bg1"/>
                </a:solidFill>
                <a:ea typeface="+mn-lt"/>
                <a:cs typeface="+mn-lt"/>
              </a:rPr>
              <a:t>Halál = újrakezdés:</a:t>
            </a:r>
            <a:r>
              <a:rPr lang="hu-HU" b="1" i="1" dirty="0">
                <a:solidFill>
                  <a:schemeClr val="bg1"/>
                </a:solidFill>
                <a:ea typeface="+mn-lt"/>
                <a:cs typeface="+mn-lt"/>
              </a:rPr>
              <a:t> </a:t>
            </a: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új elrendezés, új ellenségek, új kihívások.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D69664-BC02-C774-CD82-64A18ECDE18E}"/>
              </a:ext>
            </a:extLst>
          </p:cNvPr>
          <p:cNvSpPr txBox="1"/>
          <p:nvPr/>
        </p:nvSpPr>
        <p:spPr>
          <a:xfrm>
            <a:off x="6422571" y="1183822"/>
            <a:ext cx="5353049" cy="60631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 dirty="0" err="1">
                <a:solidFill>
                  <a:schemeClr val="bg1"/>
                </a:solidFill>
                <a:ea typeface="+mn-lt"/>
                <a:cs typeface="+mn-lt"/>
              </a:rPr>
              <a:t>Főhős: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Egy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veterán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lovag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aki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több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csatát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megnyert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. Egy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polgárháború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közben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nem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hódólt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be a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király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parancsának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hogy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megölje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a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saját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embereit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akik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nem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a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királlyal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vannak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ezért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halálra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ítélték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, de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nem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a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szokványos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módon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bg1"/>
              </a:solidFill>
            </a:endParaRPr>
          </a:p>
          <a:p>
            <a:pPr algn="l"/>
            <a:endParaRPr lang="en-US" dirty="0">
              <a:solidFill>
                <a:schemeClr val="bg1"/>
              </a:solidFill>
            </a:endParaRPr>
          </a:p>
          <a:p>
            <a:r>
              <a:rPr lang="hu-HU" b="1" u="sng" dirty="0">
                <a:solidFill>
                  <a:schemeClr val="bg1"/>
                </a:solidFill>
              </a:rPr>
              <a:t>Hangulat és vizuális stílus: </a:t>
            </a:r>
            <a:r>
              <a:rPr lang="hu-HU" i="1" dirty="0">
                <a:solidFill>
                  <a:schemeClr val="bg1"/>
                </a:solidFill>
              </a:rPr>
              <a:t>Sötét középkori </a:t>
            </a:r>
            <a:r>
              <a:rPr lang="hu-HU" i="1" dirty="0" err="1">
                <a:solidFill>
                  <a:schemeClr val="bg1"/>
                </a:solidFill>
              </a:rPr>
              <a:t>fantasy</a:t>
            </a:r>
            <a:r>
              <a:rPr lang="hu-HU" i="1" dirty="0">
                <a:solidFill>
                  <a:schemeClr val="bg1"/>
                </a:solidFill>
              </a:rPr>
              <a:t> világ – hideg színek, fáklyafény, köd, árnyékok.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hu-HU" i="1" dirty="0">
                <a:solidFill>
                  <a:schemeClr val="bg1"/>
                </a:solidFill>
              </a:rPr>
              <a:t>Atmoszferikus horror – a feszültség a bizonytalanságból és a csendből fakad.</a:t>
            </a:r>
            <a:endParaRPr lang="en-US" dirty="0">
              <a:solidFill>
                <a:schemeClr val="bg1"/>
              </a:solidFill>
            </a:endParaRPr>
          </a:p>
          <a:p>
            <a:endParaRPr lang="hu-HU" i="1" dirty="0">
              <a:solidFill>
                <a:schemeClr val="bg1"/>
              </a:solidFill>
            </a:endParaRPr>
          </a:p>
          <a:p>
            <a:r>
              <a:rPr lang="hu-HU" b="1" u="sng" dirty="0">
                <a:solidFill>
                  <a:schemeClr val="bg1"/>
                </a:solidFill>
                <a:ea typeface="+mn-lt"/>
                <a:cs typeface="+mn-lt"/>
              </a:rPr>
              <a:t>Cél:</a:t>
            </a:r>
            <a:r>
              <a:rPr lang="hu-HU" b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hu-HU" dirty="0">
                <a:solidFill>
                  <a:schemeClr val="bg1"/>
                </a:solidFill>
                <a:ea typeface="+mn-lt"/>
                <a:cs typeface="+mn-lt"/>
              </a:rPr>
              <a:t>Kijutni a </a:t>
            </a:r>
            <a:r>
              <a:rPr lang="hu-HU" err="1">
                <a:solidFill>
                  <a:schemeClr val="bg1"/>
                </a:solidFill>
                <a:ea typeface="+mn-lt"/>
                <a:cs typeface="+mn-lt"/>
              </a:rPr>
              <a:t>Dungeon-ből</a:t>
            </a:r>
            <a:r>
              <a:rPr lang="hu-HU" dirty="0">
                <a:solidFill>
                  <a:schemeClr val="bg1"/>
                </a:solidFill>
                <a:ea typeface="+mn-lt"/>
                <a:cs typeface="+mn-lt"/>
              </a:rPr>
              <a:t> és túlélni. Sajnos a </a:t>
            </a:r>
            <a:r>
              <a:rPr lang="hu-HU" err="1">
                <a:solidFill>
                  <a:schemeClr val="bg1"/>
                </a:solidFill>
                <a:ea typeface="+mn-lt"/>
                <a:cs typeface="+mn-lt"/>
              </a:rPr>
              <a:t>Dungeon</a:t>
            </a:r>
            <a:r>
              <a:rPr lang="hu-HU" dirty="0">
                <a:solidFill>
                  <a:schemeClr val="bg1"/>
                </a:solidFill>
                <a:ea typeface="+mn-lt"/>
                <a:cs typeface="+mn-lt"/>
              </a:rPr>
              <a:t> egyetlen be és kijárata ellett torlaszolva de ezt nem tudja a </a:t>
            </a:r>
            <a:r>
              <a:rPr lang="hu-HU" err="1">
                <a:solidFill>
                  <a:schemeClr val="bg1"/>
                </a:solidFill>
                <a:ea typeface="+mn-lt"/>
                <a:cs typeface="+mn-lt"/>
              </a:rPr>
              <a:t>főhös</a:t>
            </a:r>
            <a:r>
              <a:rPr lang="hu-HU" dirty="0">
                <a:solidFill>
                  <a:schemeClr val="bg1"/>
                </a:solidFill>
                <a:ea typeface="+mn-lt"/>
                <a:cs typeface="+mn-lt"/>
              </a:rPr>
              <a:t> és a remény hajtja végig a </a:t>
            </a:r>
            <a:r>
              <a:rPr lang="hu-HU" err="1">
                <a:solidFill>
                  <a:schemeClr val="bg1"/>
                </a:solidFill>
                <a:ea typeface="+mn-lt"/>
                <a:cs typeface="+mn-lt"/>
              </a:rPr>
              <a:t>szönyekkel</a:t>
            </a:r>
            <a:r>
              <a:rPr lang="hu-HU" dirty="0">
                <a:solidFill>
                  <a:schemeClr val="bg1"/>
                </a:solidFill>
                <a:ea typeface="+mn-lt"/>
                <a:cs typeface="+mn-lt"/>
              </a:rPr>
              <a:t> teli labirintusokon.</a:t>
            </a:r>
            <a:endParaRPr lang="hu-HU" dirty="0">
              <a:solidFill>
                <a:schemeClr val="bg1"/>
              </a:solidFill>
            </a:endParaRPr>
          </a:p>
          <a:p>
            <a:r>
              <a:rPr lang="hu-HU" dirty="0">
                <a:solidFill>
                  <a:schemeClr val="bg1"/>
                </a:solidFill>
                <a:ea typeface="+mn-lt"/>
                <a:cs typeface="+mn-lt"/>
              </a:rPr>
              <a:t>Igazi Cél: </a:t>
            </a:r>
            <a:r>
              <a:rPr lang="hu-HU" dirty="0" err="1">
                <a:solidFill>
                  <a:schemeClr val="bg1"/>
                </a:solidFill>
                <a:ea typeface="+mn-lt"/>
                <a:cs typeface="+mn-lt"/>
              </a:rPr>
              <a:t>Minnél</a:t>
            </a:r>
            <a:r>
              <a:rPr lang="hu-HU" dirty="0">
                <a:solidFill>
                  <a:schemeClr val="bg1"/>
                </a:solidFill>
                <a:ea typeface="+mn-lt"/>
                <a:cs typeface="+mn-lt"/>
              </a:rPr>
              <a:t> lentebb jutni a </a:t>
            </a:r>
            <a:r>
              <a:rPr lang="hu-HU" dirty="0" err="1">
                <a:solidFill>
                  <a:schemeClr val="bg1"/>
                </a:solidFill>
                <a:ea typeface="+mn-lt"/>
                <a:cs typeface="+mn-lt"/>
              </a:rPr>
              <a:t>dungeon</a:t>
            </a:r>
            <a:r>
              <a:rPr lang="hu-HU" dirty="0">
                <a:solidFill>
                  <a:schemeClr val="bg1"/>
                </a:solidFill>
                <a:ea typeface="+mn-lt"/>
                <a:cs typeface="+mn-lt"/>
              </a:rPr>
              <a:t>-ben.</a:t>
            </a:r>
            <a:endParaRPr lang="hu-HU" dirty="0">
              <a:solidFill>
                <a:schemeClr val="bg1"/>
              </a:solidFill>
            </a:endParaRPr>
          </a:p>
          <a:p>
            <a:endParaRPr lang="hu-HU" i="1" dirty="0">
              <a:solidFill>
                <a:schemeClr val="bg1"/>
              </a:solidFill>
            </a:endParaRPr>
          </a:p>
          <a:p>
            <a:endParaRPr lang="hu-HU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678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9324BB-0A69-AE8E-D096-6ED640A30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A1C100-82C7-3D6F-7F37-25274C6D59CF}"/>
              </a:ext>
            </a:extLst>
          </p:cNvPr>
          <p:cNvSpPr/>
          <p:nvPr/>
        </p:nvSpPr>
        <p:spPr>
          <a:xfrm>
            <a:off x="6526976" y="756393"/>
            <a:ext cx="4925785" cy="559195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29159E-8BA1-B464-E7A2-789E32A8241D}"/>
              </a:ext>
            </a:extLst>
          </p:cNvPr>
          <p:cNvSpPr txBox="1"/>
          <p:nvPr/>
        </p:nvSpPr>
        <p:spPr>
          <a:xfrm>
            <a:off x="4510644" y="-2968"/>
            <a:ext cx="33448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600" b="1" u="sng" dirty="0">
                <a:solidFill>
                  <a:schemeClr val="bg1"/>
                </a:solidFill>
                <a:latin typeface="Blackadder ITC"/>
              </a:rPr>
              <a:t> A játék története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073CD7-671E-835B-9E78-250244EE9729}"/>
              </a:ext>
            </a:extLst>
          </p:cNvPr>
          <p:cNvSpPr txBox="1"/>
          <p:nvPr/>
        </p:nvSpPr>
        <p:spPr>
          <a:xfrm>
            <a:off x="6633935" y="978807"/>
            <a:ext cx="4694464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 u="sng" dirty="0">
                <a:solidFill>
                  <a:schemeClr val="bg1"/>
                </a:solidFill>
                <a:ea typeface="+mn-lt"/>
                <a:cs typeface="+mn-lt"/>
              </a:rPr>
              <a:t>Dungeons of Mare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egy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 2D-s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sötét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fantasy horror roguelike,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ahol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egy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lovag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szerepébe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bújsz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akit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egy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polgárháború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során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megfosztanak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fegyvereitől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majd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egy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végtelen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b="1" i="1" dirty="0">
                <a:solidFill>
                  <a:schemeClr val="bg1"/>
                </a:solidFill>
                <a:ea typeface="+mn-lt"/>
                <a:cs typeface="+mn-lt"/>
              </a:rPr>
              <a:t>dungeon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mélyébe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taszítanak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. Kard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és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páncél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nélkül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csupán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egy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fáklya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fényére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hagyatkozva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kell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túlélnie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egy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élő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folyamatosan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változó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labirintust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amely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egyre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mélyebbre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húz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magába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i="1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i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i="1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A </a:t>
            </a:r>
            <a:r>
              <a:rPr lang="en-US" b="1" i="1" err="1">
                <a:solidFill>
                  <a:schemeClr val="bg1"/>
                </a:solidFill>
                <a:ea typeface="+mn-lt"/>
                <a:cs typeface="+mn-lt"/>
              </a:rPr>
              <a:t>dungeonnek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nincs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vége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csak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lefelé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vezető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útja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. Minden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futam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új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kihívásokat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szörnyeket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és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döntéseket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hoz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miközben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a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játék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a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túlélés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 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és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az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emberi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kitartás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határait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feszegeti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Nincs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megváltás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nincs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menekülés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–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csak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a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sötétség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és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az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akarat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hogy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még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egy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lépéssel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tovább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i="1" err="1">
                <a:solidFill>
                  <a:schemeClr val="bg1"/>
                </a:solidFill>
                <a:ea typeface="+mn-lt"/>
                <a:cs typeface="+mn-lt"/>
              </a:rPr>
              <a:t>menj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CA0028-DF36-748E-71D6-4331528D7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725" y="1056223"/>
            <a:ext cx="4347854" cy="2379560"/>
          </a:xfrm>
          <a:prstGeom prst="rect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83C0FB-F77C-73DB-40A4-949B96036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3725698"/>
            <a:ext cx="4340432" cy="2365540"/>
          </a:xfrm>
          <a:prstGeom prst="rect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89B72C-DEE0-DE5C-A040-2400923E3EE3}"/>
              </a:ext>
            </a:extLst>
          </p:cNvPr>
          <p:cNvSpPr txBox="1"/>
          <p:nvPr/>
        </p:nvSpPr>
        <p:spPr>
          <a:xfrm>
            <a:off x="2563090" y="6175168"/>
            <a:ext cx="220683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</a:rPr>
              <a:t>AI-al </a:t>
            </a:r>
            <a:r>
              <a:rPr lang="en-US" sz="1400" i="1" err="1">
                <a:solidFill>
                  <a:schemeClr val="bg1"/>
                </a:solidFill>
              </a:rPr>
              <a:t>generált</a:t>
            </a:r>
            <a:r>
              <a:rPr lang="en-US" sz="1400" i="1" dirty="0">
                <a:solidFill>
                  <a:schemeClr val="bg1"/>
                </a:solidFill>
              </a:rPr>
              <a:t> </a:t>
            </a:r>
            <a:r>
              <a:rPr lang="en-US" sz="1400" i="1" err="1">
                <a:solidFill>
                  <a:schemeClr val="bg1"/>
                </a:solidFill>
              </a:rPr>
              <a:t>tervek</a:t>
            </a:r>
            <a:endParaRPr lang="en-US" sz="14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68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591F1-C0A8-C56A-AB4D-45E72A19B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3F143EB-801E-44C9-3F24-DF26100580FC}"/>
              </a:ext>
            </a:extLst>
          </p:cNvPr>
          <p:cNvSpPr/>
          <p:nvPr/>
        </p:nvSpPr>
        <p:spPr>
          <a:xfrm>
            <a:off x="225962" y="852549"/>
            <a:ext cx="5442856" cy="291044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572ADA-5D95-BEC1-4244-5454A786EDE7}"/>
              </a:ext>
            </a:extLst>
          </p:cNvPr>
          <p:cNvSpPr txBox="1"/>
          <p:nvPr/>
        </p:nvSpPr>
        <p:spPr>
          <a:xfrm>
            <a:off x="4031672" y="-2968"/>
            <a:ext cx="46838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600" b="1" u="sng" dirty="0">
                <a:solidFill>
                  <a:schemeClr val="bg1"/>
                </a:solidFill>
                <a:latin typeface="Blackadder ITC"/>
              </a:rPr>
              <a:t>Tervek és feladat felosztás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86BB82-B23F-A6F5-5558-E1C6F9DDED80}"/>
              </a:ext>
            </a:extLst>
          </p:cNvPr>
          <p:cNvSpPr txBox="1"/>
          <p:nvPr/>
        </p:nvSpPr>
        <p:spPr>
          <a:xfrm>
            <a:off x="414810" y="1002641"/>
            <a:ext cx="5076701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b="1" u="sng" dirty="0">
                <a:solidFill>
                  <a:schemeClr val="bg1"/>
                </a:solidFill>
                <a:ea typeface="+mn-lt"/>
                <a:cs typeface="+mn-lt"/>
              </a:rPr>
              <a:t>Miben új, miben más:</a:t>
            </a:r>
            <a:endParaRPr lang="hu-HU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Egyedi atmoszféra: nem </a:t>
            </a:r>
            <a:r>
              <a:rPr lang="hu-HU" i="1" err="1">
                <a:solidFill>
                  <a:schemeClr val="bg1"/>
                </a:solidFill>
                <a:ea typeface="+mn-lt"/>
                <a:cs typeface="+mn-lt"/>
              </a:rPr>
              <a:t>jumpscare-ekre</a:t>
            </a: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, hanem pszichológiai feszültségre épít.</a:t>
            </a:r>
            <a:endParaRPr lang="hu-HU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hu-HU" i="1" err="1">
                <a:solidFill>
                  <a:schemeClr val="bg1"/>
                </a:solidFill>
                <a:ea typeface="+mn-lt"/>
                <a:cs typeface="+mn-lt"/>
              </a:rPr>
              <a:t>Roguelike</a:t>
            </a:r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 struktúra: minden futam új élményt nyújt.</a:t>
            </a:r>
            <a:endParaRPr lang="hu-HU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Kutatás és kísérletezés: a játékos maga fedezi fel a túlélés szabályait.</a:t>
            </a:r>
            <a:endParaRPr lang="hu-HU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hu-HU" i="1" dirty="0">
                <a:solidFill>
                  <a:schemeClr val="bg1"/>
                </a:solidFill>
                <a:ea typeface="+mn-lt"/>
                <a:cs typeface="+mn-lt"/>
              </a:rPr>
              <a:t>Minimalista történetmesélés: a környezet és a hangulat mesél, nem a párbeszédek.</a:t>
            </a:r>
            <a:endParaRPr lang="hu-HU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hu-HU" sz="14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hu-HU" sz="14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BBC919-D137-65DC-011C-C0480DC068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" r="-395" b="7531"/>
          <a:stretch>
            <a:fillRect/>
          </a:stretch>
        </p:blipFill>
        <p:spPr>
          <a:xfrm>
            <a:off x="6515903" y="1251448"/>
            <a:ext cx="2514978" cy="4367496"/>
          </a:xfrm>
          <a:prstGeom prst="rect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74DB7D-9FB2-D065-C975-C933B9183345}"/>
              </a:ext>
            </a:extLst>
          </p:cNvPr>
          <p:cNvSpPr txBox="1"/>
          <p:nvPr/>
        </p:nvSpPr>
        <p:spPr>
          <a:xfrm>
            <a:off x="7897585" y="5772151"/>
            <a:ext cx="48305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bg1"/>
                </a:solidFill>
              </a:rPr>
              <a:t>Trelloba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feljegyzett</a:t>
            </a:r>
            <a:r>
              <a:rPr lang="en-US" dirty="0">
                <a:solidFill>
                  <a:schemeClr val="bg1"/>
                </a:solidFill>
              </a:rPr>
              <a:t> </a:t>
            </a:r>
            <a:r>
              <a:rPr lang="en-US" err="1">
                <a:solidFill>
                  <a:schemeClr val="bg1"/>
                </a:solidFill>
              </a:rPr>
              <a:t>tervek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532B2A-D542-A2C3-D5F9-3B04AA965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195" y="1253898"/>
            <a:ext cx="2513240" cy="4371976"/>
          </a:xfrm>
          <a:prstGeom prst="rect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8D4B7E8-A306-EA32-41AD-5EBE01D7AE6C}"/>
              </a:ext>
            </a:extLst>
          </p:cNvPr>
          <p:cNvSpPr/>
          <p:nvPr/>
        </p:nvSpPr>
        <p:spPr>
          <a:xfrm>
            <a:off x="225962" y="3846119"/>
            <a:ext cx="4354285" cy="2790701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BF1D75-6921-0C2A-619B-7F11AF5263AB}"/>
              </a:ext>
            </a:extLst>
          </p:cNvPr>
          <p:cNvSpPr txBox="1"/>
          <p:nvPr/>
        </p:nvSpPr>
        <p:spPr>
          <a:xfrm>
            <a:off x="419099" y="4095750"/>
            <a:ext cx="429985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 err="1">
                <a:solidFill>
                  <a:schemeClr val="bg1"/>
                </a:solidFill>
              </a:rPr>
              <a:t>Felelősök</a:t>
            </a:r>
            <a:r>
              <a:rPr lang="en-US" b="1" u="sng" dirty="0">
                <a:solidFill>
                  <a:schemeClr val="bg1"/>
                </a:solidFill>
              </a:rPr>
              <a:t>:</a:t>
            </a:r>
          </a:p>
          <a:p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Kamilla: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Web </a:t>
            </a:r>
            <a:r>
              <a:rPr lang="en-US" err="1">
                <a:solidFill>
                  <a:schemeClr val="bg1"/>
                </a:solidFill>
                <a:ea typeface="+mn-lt"/>
                <a:cs typeface="+mn-lt"/>
              </a:rPr>
              <a:t>adatbázis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1"/>
                </a:solidFill>
                <a:ea typeface="+mn-lt"/>
                <a:cs typeface="+mn-lt"/>
              </a:rPr>
              <a:t>játék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/>
                </a:solidFill>
                <a:ea typeface="+mn-lt"/>
                <a:cs typeface="+mn-lt"/>
              </a:rPr>
              <a:t>modellezés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1"/>
                </a:solidFill>
                <a:ea typeface="+mn-lt"/>
                <a:cs typeface="+mn-lt"/>
              </a:rPr>
              <a:t>dokkumentáció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, backend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Alexa: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design, frontend, backend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Pepe: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C#, </a:t>
            </a:r>
            <a:r>
              <a:rPr lang="en-US" err="1">
                <a:solidFill>
                  <a:schemeClr val="bg1"/>
                </a:solidFill>
                <a:ea typeface="+mn-lt"/>
                <a:cs typeface="+mn-lt"/>
              </a:rPr>
              <a:t>Alkalmazás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err="1">
                <a:solidFill>
                  <a:schemeClr val="bg1"/>
                </a:solidFill>
                <a:ea typeface="+mn-lt"/>
                <a:cs typeface="+mn-lt"/>
              </a:rPr>
              <a:t>Teszt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bg1"/>
                </a:solidFill>
                <a:ea typeface="+mn-lt"/>
                <a:cs typeface="+mn-lt"/>
              </a:rPr>
              <a:t>dokumentáció</a:t>
            </a:r>
            <a:endParaRPr lang="en-US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418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2B8F1-E4FE-C7A9-AC1E-2118621A8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13">
            <a:extLst>
              <a:ext uri="{FF2B5EF4-FFF2-40B4-BE49-F238E27FC236}">
                <a16:creationId xmlns:a16="http://schemas.microsoft.com/office/drawing/2014/main" id="{90D38A63-8705-E36C-130B-2124D4929697}"/>
              </a:ext>
            </a:extLst>
          </p:cNvPr>
          <p:cNvSpPr/>
          <p:nvPr/>
        </p:nvSpPr>
        <p:spPr>
          <a:xfrm>
            <a:off x="6863112" y="773710"/>
            <a:ext cx="5132613" cy="407917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B80C31-AA2C-8EF9-38A0-03653601541C}"/>
              </a:ext>
            </a:extLst>
          </p:cNvPr>
          <p:cNvSpPr txBox="1"/>
          <p:nvPr/>
        </p:nvSpPr>
        <p:spPr>
          <a:xfrm>
            <a:off x="4122717" y="117928"/>
            <a:ext cx="394920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600" u="sng" dirty="0">
                <a:solidFill>
                  <a:schemeClr val="bg1"/>
                </a:solidFill>
                <a:latin typeface="Blackadder ITC"/>
                <a:ea typeface="+mn-lt"/>
                <a:cs typeface="+mn-lt"/>
              </a:rPr>
              <a:t>Fórum Adatbázis leírás</a:t>
            </a:r>
            <a:endParaRPr lang="hu-HU" u="sng" dirty="0">
              <a:solidFill>
                <a:schemeClr val="bg1"/>
              </a:solidFill>
              <a:latin typeface="Blackadder ITC"/>
            </a:endParaRPr>
          </a:p>
        </p:txBody>
      </p:sp>
      <p:sp>
        <p:nvSpPr>
          <p:cNvPr id="3" name="Rectangle: Rounded Corners 13">
            <a:extLst>
              <a:ext uri="{FF2B5EF4-FFF2-40B4-BE49-F238E27FC236}">
                <a16:creationId xmlns:a16="http://schemas.microsoft.com/office/drawing/2014/main" id="{944CFCBC-B95E-3970-DEB4-6CDDE880BBD2}"/>
              </a:ext>
            </a:extLst>
          </p:cNvPr>
          <p:cNvSpPr/>
          <p:nvPr/>
        </p:nvSpPr>
        <p:spPr>
          <a:xfrm>
            <a:off x="255484" y="784595"/>
            <a:ext cx="6504212" cy="447105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310E179A-A0BC-113B-756B-E6188A28DD01}"/>
              </a:ext>
            </a:extLst>
          </p:cNvPr>
          <p:cNvSpPr txBox="1"/>
          <p:nvPr/>
        </p:nvSpPr>
        <p:spPr>
          <a:xfrm>
            <a:off x="410100" y="992535"/>
            <a:ext cx="6365576" cy="56649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u="sng" dirty="0">
                <a:solidFill>
                  <a:schemeClr val="bg1"/>
                </a:solidFill>
                <a:ea typeface="+mn-lt"/>
                <a:cs typeface="+mn-lt"/>
              </a:rPr>
              <a:t>Táblák bemutatása:</a:t>
            </a: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hu-HU" sz="2000" b="1" dirty="0">
                <a:solidFill>
                  <a:schemeClr val="bg1"/>
                </a:solidFill>
                <a:ea typeface="+mn-lt"/>
                <a:cs typeface="+mn-lt"/>
              </a:rPr>
              <a:t>Játékosok (</a:t>
            </a:r>
            <a:r>
              <a:rPr lang="hu-HU" sz="2000" b="1" err="1">
                <a:solidFill>
                  <a:schemeClr val="bg1"/>
                </a:solidFill>
                <a:ea typeface="+mn-lt"/>
                <a:cs typeface="+mn-lt"/>
              </a:rPr>
              <a:t>jatekosok</a:t>
            </a:r>
            <a:r>
              <a:rPr lang="hu-HU" sz="2000" b="1" dirty="0">
                <a:solidFill>
                  <a:schemeClr val="bg1"/>
                </a:solidFill>
                <a:ea typeface="+mn-lt"/>
                <a:cs typeface="+mn-lt"/>
              </a:rPr>
              <a:t>):</a:t>
            </a:r>
            <a:r>
              <a:rPr lang="hu-HU" sz="2000" dirty="0">
                <a:solidFill>
                  <a:schemeClr val="bg1"/>
                </a:solidFill>
                <a:ea typeface="+mn-lt"/>
                <a:cs typeface="+mn-lt"/>
              </a:rPr>
              <a:t> Ez a tábla a játékosok alapadatait tárolja.</a:t>
            </a:r>
            <a:endParaRPr lang="hu-HU" sz="20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hu-HU" sz="2000" dirty="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hu-HU" sz="2000" b="1" dirty="0">
                <a:solidFill>
                  <a:schemeClr val="bg1"/>
                </a:solidFill>
                <a:ea typeface="+mn-lt"/>
                <a:cs typeface="+mn-lt"/>
              </a:rPr>
              <a:t>Szörnyek (</a:t>
            </a:r>
            <a:r>
              <a:rPr lang="hu-HU" sz="2000" b="1" err="1">
                <a:solidFill>
                  <a:schemeClr val="bg1"/>
                </a:solidFill>
                <a:ea typeface="+mn-lt"/>
                <a:cs typeface="+mn-lt"/>
              </a:rPr>
              <a:t>szornyek</a:t>
            </a:r>
            <a:r>
              <a:rPr lang="hu-HU" sz="2000" b="1" dirty="0">
                <a:solidFill>
                  <a:schemeClr val="bg1"/>
                </a:solidFill>
                <a:ea typeface="+mn-lt"/>
                <a:cs typeface="+mn-lt"/>
              </a:rPr>
              <a:t>): </a:t>
            </a:r>
            <a:r>
              <a:rPr lang="hu-HU" sz="2000" dirty="0">
                <a:solidFill>
                  <a:schemeClr val="bg1"/>
                </a:solidFill>
                <a:ea typeface="+mn-lt"/>
                <a:cs typeface="+mn-lt"/>
              </a:rPr>
              <a:t>A játékban szereplő szörnyek adatait tartalmazza.</a:t>
            </a:r>
            <a:endParaRPr lang="hu-HU" sz="20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hu-HU" sz="2000" dirty="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hu-HU" sz="2000" b="1" dirty="0">
                <a:solidFill>
                  <a:schemeClr val="bg1"/>
                </a:solidFill>
                <a:ea typeface="+mn-lt"/>
                <a:cs typeface="+mn-lt"/>
              </a:rPr>
              <a:t>Kapuk (kapuk): </a:t>
            </a:r>
            <a:r>
              <a:rPr lang="hu-HU" sz="2000" dirty="0">
                <a:solidFill>
                  <a:schemeClr val="bg1"/>
                </a:solidFill>
                <a:ea typeface="+mn-lt"/>
                <a:cs typeface="+mn-lt"/>
              </a:rPr>
              <a:t>A kapuk a kezdőszobában található választási lehetőségek, amelyek mögött különböző kihívások és szörnyek vannak.</a:t>
            </a:r>
          </a:p>
          <a:p>
            <a:pPr marL="342900" indent="-342900">
              <a:buAutoNum type="arabicPeriod"/>
            </a:pPr>
            <a:endParaRPr lang="hu-HU" sz="20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hu-HU" sz="2000" b="1" dirty="0">
                <a:solidFill>
                  <a:schemeClr val="bg1"/>
                </a:solidFill>
                <a:ea typeface="+mn-lt"/>
                <a:cs typeface="+mn-lt"/>
              </a:rPr>
              <a:t>Futamok (futamok): </a:t>
            </a:r>
            <a:r>
              <a:rPr lang="hu-HU" sz="2000" dirty="0">
                <a:solidFill>
                  <a:schemeClr val="bg1"/>
                </a:solidFill>
                <a:ea typeface="+mn-lt"/>
                <a:cs typeface="+mn-lt"/>
              </a:rPr>
              <a:t>A futam egy teljes játékmenetet jelent a kezdéstől a halálig vagy a kijutásig.</a:t>
            </a:r>
            <a:endParaRPr lang="hu-HU" sz="2000" b="1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hu-HU" sz="20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hu-HU" sz="2000">
              <a:solidFill>
                <a:schemeClr val="bg1"/>
              </a:solidFill>
            </a:endParaRPr>
          </a:p>
          <a:p>
            <a:endParaRPr lang="hu-HU" sz="1400" dirty="0"/>
          </a:p>
          <a:p>
            <a:endParaRPr lang="hu-HU" sz="1400" dirty="0"/>
          </a:p>
          <a:p>
            <a:endParaRPr lang="hu-HU" sz="1400" dirty="0"/>
          </a:p>
          <a:p>
            <a:endParaRPr lang="hu-H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259B8A-F972-7B29-CB37-BB2756F84092}"/>
              </a:ext>
            </a:extLst>
          </p:cNvPr>
          <p:cNvSpPr txBox="1"/>
          <p:nvPr/>
        </p:nvSpPr>
        <p:spPr>
          <a:xfrm>
            <a:off x="7151914" y="990600"/>
            <a:ext cx="4550229" cy="36625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rtl="0">
              <a:buFont typeface=""/>
              <a:buAutoNum type="arabicPeriod"/>
            </a:pPr>
            <a:endParaRPr lang="hu-HU">
              <a:latin typeface="Arial"/>
              <a:ea typeface="Arial"/>
              <a:cs typeface="Arial"/>
            </a:endParaRPr>
          </a:p>
          <a:p>
            <a:pPr marL="342900" lvl="0" indent="-342900" rtl="0">
              <a:buFont typeface=""/>
              <a:buAutoNum type="arabicPeriod" startAt="5"/>
            </a:pPr>
            <a:r>
              <a:rPr lang="hu-HU" sz="2000" b="1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Pályák (palyak):</a:t>
            </a:r>
            <a:r>
              <a:rPr lang="hu-HU" sz="2000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 Ez a tábla a véletlenszerűen generált pályákat tárolja.</a:t>
            </a:r>
            <a:r>
              <a:rPr lang="en-US" sz="2000">
                <a:latin typeface="Aptos"/>
                <a:ea typeface="Arial"/>
                <a:cs typeface="Arial"/>
              </a:rPr>
              <a:t>​</a:t>
            </a:r>
          </a:p>
          <a:p>
            <a:pPr marL="342900" lvl="0" indent="-342900" rtl="0">
              <a:buFont typeface=""/>
              <a:buAutoNum type="arabicPeriod" startAt="5"/>
            </a:pPr>
            <a:endParaRPr lang="hu-HU">
              <a:latin typeface="Arial"/>
              <a:ea typeface="Arial"/>
              <a:cs typeface="Arial"/>
            </a:endParaRPr>
          </a:p>
          <a:p>
            <a:pPr marL="342900" lvl="0" indent="-342900" rtl="0">
              <a:buFont typeface=""/>
              <a:buAutoNum type="arabicPeriod" startAt="6"/>
            </a:pPr>
            <a:r>
              <a:rPr lang="hu-HU" sz="2000" b="1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Szobák / Folyosók (szobak): </a:t>
            </a:r>
            <a:r>
              <a:rPr lang="hu-HU" sz="2000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A pályákon található szobák és folyosók adatait tartalmazza.</a:t>
            </a:r>
            <a:r>
              <a:rPr lang="hu-HU" sz="2000">
                <a:latin typeface="Aptos"/>
                <a:ea typeface="Arial"/>
                <a:cs typeface="Arial"/>
              </a:rPr>
              <a:t>​</a:t>
            </a:r>
          </a:p>
          <a:p>
            <a:pPr marL="342900" lvl="0" indent="-342900" rtl="0">
              <a:buFont typeface=""/>
              <a:buAutoNum type="arabicPeriod" startAt="6"/>
            </a:pPr>
            <a:endParaRPr lang="hu-HU">
              <a:latin typeface="Arial"/>
              <a:ea typeface="Arial"/>
              <a:cs typeface="Arial"/>
            </a:endParaRPr>
          </a:p>
          <a:p>
            <a:pPr marL="342900" lvl="0" indent="-342900" rtl="0">
              <a:buFont typeface=""/>
              <a:buAutoNum type="arabicPeriod" startAt="7"/>
            </a:pPr>
            <a:r>
              <a:rPr lang="hu-HU" sz="2000" b="1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Interakciók (interakciok): </a:t>
            </a:r>
            <a:r>
              <a:rPr lang="hu-HU" sz="2000" baseline="0">
                <a:solidFill>
                  <a:srgbClr val="FFFFFF"/>
                </a:solidFill>
                <a:latin typeface="Aptos"/>
                <a:ea typeface="Arial"/>
                <a:cs typeface="Arial"/>
              </a:rPr>
              <a:t>A játék során történt eseményeket naplózza.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35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D6337-5966-02F3-1046-A7660A3A0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9FF54C3-BA60-E4BD-08C0-F387E320D628}"/>
              </a:ext>
            </a:extLst>
          </p:cNvPr>
          <p:cNvSpPr txBox="1"/>
          <p:nvPr/>
        </p:nvSpPr>
        <p:spPr>
          <a:xfrm>
            <a:off x="5494317" y="107042"/>
            <a:ext cx="11951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600" u="sng" dirty="0">
                <a:solidFill>
                  <a:schemeClr val="bg1"/>
                </a:solidFill>
                <a:latin typeface="Blackadder ITC"/>
              </a:rPr>
              <a:t>Játék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E3309-4AEC-7EEF-8134-E8232F8C5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90" y="967595"/>
            <a:ext cx="6824870" cy="34120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EE9569-8D61-206D-B607-4D38EDDB95ED}"/>
              </a:ext>
            </a:extLst>
          </p:cNvPr>
          <p:cNvSpPr/>
          <p:nvPr/>
        </p:nvSpPr>
        <p:spPr>
          <a:xfrm>
            <a:off x="7585571" y="652347"/>
            <a:ext cx="4310742" cy="5858657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04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Office-téma</vt:lpstr>
      <vt:lpstr>Szakmai Vizsga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450</cp:revision>
  <dcterms:created xsi:type="dcterms:W3CDTF">2025-12-17T10:50:00Z</dcterms:created>
  <dcterms:modified xsi:type="dcterms:W3CDTF">2026-02-05T07:14:37Z</dcterms:modified>
</cp:coreProperties>
</file>